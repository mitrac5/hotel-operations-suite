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1307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DBF73"/>
          </a:solidFill>
          <a:ln w="12700">
            <a:solidFill>
              <a:srgbClr val="1D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2240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GuestWave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548640" y="28803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DB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Operations Suite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Guest Experience &amp; Operational Excellence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533"/>
          </a:solidFill>
          <a:ln w="12700">
            <a:solidFill>
              <a:srgbClr val="1E25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4556A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5176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DFE6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6517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630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533"/>
                </a:solidFill>
              </a:rPr>
              <a:t>No real-time visibility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69748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6E72"/>
                </a:solidFill>
              </a:rPr>
              <a:t>Front office teams operate blind -  room status, service requests, and SLA breaches are scattered across disconnected systems.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54680" y="1234440"/>
            <a:ext cx="265176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DFE6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154680" y="1234440"/>
            <a:ext cx="2651760" cy="54864"/>
          </a:xfrm>
          <a:prstGeom prst="rect">
            <a:avLst/>
          </a:prstGeom>
          <a:solidFill>
            <a:srgbClr val="F0CE70"/>
          </a:solidFill>
          <a:ln w="12700">
            <a:solidFill>
              <a:srgbClr val="F0C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4630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533"/>
                </a:solidFill>
              </a:rPr>
              <a:t>Delayed service handling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91840" y="269748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36E72"/>
                </a:solidFill>
              </a:rPr>
              <a:t>Without a unified view, service requests pile up unnoticed. Staff are reactive, not proactive, leading to guest dissatisfaction.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89320" y="1234440"/>
            <a:ext cx="265176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DFE6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989320" y="1234440"/>
            <a:ext cx="2651760" cy="54864"/>
          </a:xfrm>
          <a:prstGeom prst="rect">
            <a:avLst/>
          </a:prstGeom>
          <a:solidFill>
            <a:srgbClr val="1DBF73"/>
          </a:solidFill>
          <a:ln w="12700">
            <a:solidFill>
              <a:srgbClr val="1D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46304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533"/>
                </a:solidFill>
              </a:rPr>
              <a:t>Inefficient staff coordination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26480" y="269748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6E72"/>
                </a:solidFill>
              </a:rPr>
              <a:t>Task assignment is manual and ad-hoc. No visibility into staff workload means uneven distribution and missed follow-ups.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3A50"/>
          </a:solidFill>
          <a:ln w="12700">
            <a:solidFill>
              <a:srgbClr val="2E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Solution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4556A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899BB"/>
                </a:solidFill>
              </a:rPr>
              <a:t>A unified operations suite built for hotel teams.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114800" cy="3200400"/>
          </a:xfrm>
          <a:prstGeom prst="rect">
            <a:avLst/>
          </a:prstGeom>
          <a:solidFill>
            <a:srgbClr val="2E3A50"/>
          </a:solidFill>
          <a:ln w="12700">
            <a:solidFill>
              <a:srgbClr val="3A4A6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4114800" cy="45720"/>
          </a:xfrm>
          <a:prstGeom prst="rect">
            <a:avLst/>
          </a:prstGeom>
          <a:solidFill>
            <a:srgbClr val="1DBF73"/>
          </a:solidFill>
          <a:ln w="12700">
            <a:solidFill>
              <a:srgbClr val="1D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502920" cy="237744"/>
          </a:xfrm>
          <a:prstGeom prst="rect">
            <a:avLst/>
          </a:prstGeom>
          <a:solidFill>
            <a:srgbClr val="1DBF73"/>
          </a:solidFill>
          <a:ln w="12700">
            <a:solidFill>
              <a:srgbClr val="1D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Web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 Office Control Panel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899BB"/>
                </a:solidFill>
              </a:rPr>
              <a:t>A live operations dashboard for front office teams. Complete visibility into 100+ rooms, real-time SLA alerts, staff assignment, and check-in/out - all in a single screen.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547872"/>
            <a:ext cx="3794760" cy="0"/>
          </a:xfrm>
          <a:prstGeom prst="line">
            <a:avLst/>
          </a:prstGeom>
          <a:noFill/>
          <a:ln w="6350">
            <a:solidFill>
              <a:srgbClr val="3A4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63931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BCC"/>
                </a:solidFill>
              </a:rPr>
              <a:t>Live room grid (floor × type)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BCC"/>
                </a:solidFill>
              </a:rPr>
              <a:t>SLA breach detection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BCC"/>
                </a:solidFill>
              </a:rPr>
              <a:t>Staff workload management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BCC"/>
                </a:solidFill>
              </a:rPr>
              <a:t>Check-in / check-out flows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600200"/>
            <a:ext cx="4114800" cy="3200400"/>
          </a:xfrm>
          <a:prstGeom prst="rect">
            <a:avLst/>
          </a:prstGeom>
          <a:solidFill>
            <a:srgbClr val="2E3A50"/>
          </a:solidFill>
          <a:ln w="12700">
            <a:solidFill>
              <a:srgbClr val="3A4A6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1600200"/>
            <a:ext cx="4114800" cy="45720"/>
          </a:xfrm>
          <a:prstGeom prst="rect">
            <a:avLst/>
          </a:prstGeom>
          <a:solidFill>
            <a:srgbClr val="3B9EEB"/>
          </a:solidFill>
          <a:ln w="12700">
            <a:solidFill>
              <a:srgbClr val="3B9E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92040" y="1737360"/>
            <a:ext cx="502920" cy="237744"/>
          </a:xfrm>
          <a:prstGeom prst="rect">
            <a:avLst/>
          </a:prstGeom>
          <a:solidFill>
            <a:srgbClr val="3B9EEB"/>
          </a:solidFill>
          <a:ln w="12700">
            <a:solidFill>
              <a:srgbClr val="3B9E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173736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Mobile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20574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Housekeeping Staff App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51460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899BB"/>
                </a:solidFill>
              </a:rPr>
              <a:t>A field-first mobile app for housekeeping and service staff. Task-first interface with door verification, before/after media capture, and structured room documentation.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92040" y="3547872"/>
            <a:ext cx="3794760" cy="0"/>
          </a:xfrm>
          <a:prstGeom prst="line">
            <a:avLst/>
          </a:prstGeom>
          <a:noFill/>
          <a:ln w="6350">
            <a:solidFill>
              <a:srgbClr val="3A4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363931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BCC"/>
                </a:solidFill>
              </a:rPr>
              <a:t>Task inbox sorted by urgency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BCC"/>
                </a:solidFill>
              </a:rPr>
              <a:t>3-step task execution flow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BCC"/>
                </a:solidFill>
              </a:rPr>
              <a:t>Per-section media capture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533"/>
          </a:solidFill>
          <a:ln w="12700">
            <a:solidFill>
              <a:srgbClr val="1E25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Hotel Operations Control Panel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4556A"/>
                </a:solidFill>
              </a:rPr>
              <a:t>04</a:t>
            </a:r>
            <a:endParaRPr lang="en-US" sz="1100" dirty="0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C3DC79E5-9A27-F8D0-E374-8C37D89DD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3394"/>
            <a:ext cx="9144000" cy="42301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533"/>
          </a:solidFill>
          <a:ln w="12700">
            <a:solidFill>
              <a:srgbClr val="1E25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Left Panel — Control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4556A"/>
                </a:solidFill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0" y="11887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3"/>
                </a:solidFill>
              </a:rPr>
              <a:t>Design Decisions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017520" y="1645920"/>
            <a:ext cx="5669280" cy="960120"/>
          </a:xfrm>
          <a:prstGeom prst="rect">
            <a:avLst/>
          </a:prstGeom>
          <a:solidFill>
            <a:srgbClr val="F5F6FA"/>
          </a:solidFill>
          <a:ln w="12700">
            <a:solidFill>
              <a:srgbClr val="DFE6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017520" y="1645920"/>
            <a:ext cx="54864" cy="960120"/>
          </a:xfrm>
          <a:prstGeom prst="rect">
            <a:avLst/>
          </a:prstGeom>
          <a:solidFill>
            <a:srgbClr val="1DBF73"/>
          </a:solidFill>
          <a:ln w="12700">
            <a:solidFill>
              <a:srgbClr val="1D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874520"/>
            <a:ext cx="411480" cy="4114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3749040" y="1737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3"/>
                </a:solidFill>
              </a:rPr>
              <a:t>Single-select filter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749040" y="20299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</a:rPr>
              <a:t>One status at a time prevents cognitive overload. Staff see exactly what they need — nothing more.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017520" y="2743200"/>
            <a:ext cx="5669280" cy="960120"/>
          </a:xfrm>
          <a:prstGeom prst="rect">
            <a:avLst/>
          </a:prstGeom>
          <a:solidFill>
            <a:srgbClr val="F5F6FA"/>
          </a:solidFill>
          <a:ln w="12700">
            <a:solidFill>
              <a:srgbClr val="DFE6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3017520" y="2743200"/>
            <a:ext cx="54864" cy="960120"/>
          </a:xfrm>
          <a:prstGeom prst="rect">
            <a:avLst/>
          </a:prstGeom>
          <a:solidFill>
            <a:srgbClr val="1DBF73"/>
          </a:solidFill>
          <a:ln w="12700">
            <a:solidFill>
              <a:srgbClr val="1D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2971800"/>
            <a:ext cx="411480" cy="41148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749040" y="2834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3"/>
                </a:solidFill>
              </a:rPr>
              <a:t>Profile always visible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3749040" y="31272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</a:rPr>
              <a:t>Staff identity is always on screen. Reduces errors, increases accountability.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3017520" y="3840480"/>
            <a:ext cx="5669280" cy="960120"/>
          </a:xfrm>
          <a:prstGeom prst="rect">
            <a:avLst/>
          </a:prstGeom>
          <a:solidFill>
            <a:srgbClr val="F5F6FA"/>
          </a:solidFill>
          <a:ln w="12700">
            <a:solidFill>
              <a:srgbClr val="DFE6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3017520" y="3840480"/>
            <a:ext cx="54864" cy="960120"/>
          </a:xfrm>
          <a:prstGeom prst="rect">
            <a:avLst/>
          </a:prstGeom>
          <a:solidFill>
            <a:srgbClr val="1DBF73"/>
          </a:solidFill>
          <a:ln w="12700">
            <a:solidFill>
              <a:srgbClr val="1D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069080"/>
            <a:ext cx="411480" cy="41148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3749040" y="3931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3"/>
                </a:solidFill>
              </a:rPr>
              <a:t>Color-coded status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3749040" y="42245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</a:rPr>
              <a:t>Four distinct colors map directly to operational states — scannable in under a second.</a:t>
            </a:r>
            <a:endParaRPr lang="en-US" sz="10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62AEB05D-EAB3-0576-4CAB-FD9AE069B1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001" y="1188720"/>
            <a:ext cx="1666305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533"/>
          </a:solidFill>
          <a:ln w="12700">
            <a:solidFill>
              <a:srgbClr val="1E25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Center Grid — Core Experience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4556A"/>
                </a:solidFill>
              </a:rPr>
              <a:t>06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94360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3"/>
                </a:solidFill>
              </a:rPr>
              <a:t>Design Decisions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5943600" y="1600200"/>
            <a:ext cx="2926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5943600" y="1600200"/>
            <a:ext cx="45720" cy="713232"/>
          </a:xfrm>
          <a:prstGeom prst="rect">
            <a:avLst/>
          </a:prstGeom>
          <a:solidFill>
            <a:srgbClr val="1DBF73"/>
          </a:solidFill>
          <a:ln w="12700">
            <a:solidFill>
              <a:srgbClr val="1D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6080760" y="165506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3"/>
                </a:solidFill>
              </a:rPr>
              <a:t>Floor × Type structure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6080760" y="191109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</a:rPr>
              <a:t>Y-axis = floors, X-axis = room types. No infinite scroll — every room visible at once.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5943600" y="2423160"/>
            <a:ext cx="2926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5943600" y="2423160"/>
            <a:ext cx="45720" cy="713232"/>
          </a:xfrm>
          <a:prstGeom prst="rect">
            <a:avLst/>
          </a:prstGeom>
          <a:solidFill>
            <a:srgbClr val="1DBF73"/>
          </a:solidFill>
          <a:ln w="12700">
            <a:solidFill>
              <a:srgbClr val="1D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6080760" y="247802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3"/>
                </a:solidFill>
              </a:rPr>
              <a:t>Status-coded cards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6080760" y="273405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</a:rPr>
              <a:t>Color, border, and icon communicate status instantly. No labels needed.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5943600" y="3246120"/>
            <a:ext cx="2926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5943600" y="3246120"/>
            <a:ext cx="45720" cy="713232"/>
          </a:xfrm>
          <a:prstGeom prst="rect">
            <a:avLst/>
          </a:prstGeom>
          <a:solidFill>
            <a:srgbClr val="1DBF73"/>
          </a:solidFill>
          <a:ln w="12700">
            <a:solidFill>
              <a:srgbClr val="1D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6080760" y="330098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3"/>
                </a:solidFill>
              </a:rPr>
              <a:t>SLA pulse indicator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6080760" y="355701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</a:rPr>
              <a:t>Red border + animated dot draws attention to breaching rooms. Priority is self-evident.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5943600" y="4069080"/>
            <a:ext cx="2926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5943600" y="4069080"/>
            <a:ext cx="45720" cy="713232"/>
          </a:xfrm>
          <a:prstGeom prst="rect">
            <a:avLst/>
          </a:prstGeom>
          <a:solidFill>
            <a:srgbClr val="1DBF73"/>
          </a:solidFill>
          <a:ln w="12700">
            <a:solidFill>
              <a:srgbClr val="1D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6080760" y="412394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3"/>
                </a:solidFill>
              </a:rPr>
              <a:t>Click-to-action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6080760" y="437997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</a:rPr>
              <a:t>Any card opens a contextual action modal. Check-in, assign staff, mark done — 2 clicks max.</a:t>
            </a:r>
            <a:endParaRPr lang="en-US" sz="950" dirty="0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800C2217-51D9-49DA-EA3A-7825C173C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90" y="1183374"/>
            <a:ext cx="5863050" cy="35989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533"/>
          </a:solidFill>
          <a:ln w="12700">
            <a:solidFill>
              <a:srgbClr val="1E25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Right Panel — Awareness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4556A"/>
                </a:solidFill>
              </a:rPr>
              <a:t>07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3"/>
                </a:solidFill>
              </a:rPr>
              <a:t>Design Decisions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91840" y="1627632"/>
            <a:ext cx="5486400" cy="914400"/>
          </a:xfrm>
          <a:prstGeom prst="rect">
            <a:avLst/>
          </a:prstGeom>
          <a:solidFill>
            <a:srgbClr val="F5F6FA"/>
          </a:solidFill>
          <a:ln w="12700">
            <a:solidFill>
              <a:srgbClr val="DFE6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91840" y="1627632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856232"/>
            <a:ext cx="411480" cy="41148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041648" y="173736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3"/>
                </a:solidFill>
              </a:rPr>
              <a:t>Proactive SLA alerts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041648" y="2029968"/>
            <a:ext cx="4553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</a:rPr>
              <a:t>Breaching rooms are surfaced before they become complaints. Staff act before guests escalate.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291840" y="2706624"/>
            <a:ext cx="5486400" cy="914400"/>
          </a:xfrm>
          <a:prstGeom prst="rect">
            <a:avLst/>
          </a:prstGeom>
          <a:solidFill>
            <a:srgbClr val="F5F6FA"/>
          </a:solidFill>
          <a:ln w="12700">
            <a:solidFill>
              <a:srgbClr val="DFE6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3291840" y="2706624"/>
            <a:ext cx="54864" cy="914400"/>
          </a:xfrm>
          <a:prstGeom prst="rect">
            <a:avLst/>
          </a:prstGeom>
          <a:solidFill>
            <a:srgbClr val="3B9EEB"/>
          </a:solidFill>
          <a:ln w="12700">
            <a:solidFill>
              <a:srgbClr val="3B9E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935224"/>
            <a:ext cx="411480" cy="41148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4041648" y="2816352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3"/>
                </a:solidFill>
              </a:rPr>
              <a:t>Live KPI cards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4041648" y="3108960"/>
            <a:ext cx="4553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</a:rPr>
              <a:t>Occupancy, requests, check-ins/outs — always visible. No report, no refresh needed.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3291840" y="3785616"/>
            <a:ext cx="5486400" cy="914400"/>
          </a:xfrm>
          <a:prstGeom prst="rect">
            <a:avLst/>
          </a:prstGeom>
          <a:solidFill>
            <a:srgbClr val="F5F6FA"/>
          </a:solidFill>
          <a:ln w="12700">
            <a:solidFill>
              <a:srgbClr val="DFE6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3291840" y="3785616"/>
            <a:ext cx="54864" cy="914400"/>
          </a:xfrm>
          <a:prstGeom prst="rect">
            <a:avLst/>
          </a:prstGeom>
          <a:solidFill>
            <a:srgbClr val="1DBF73"/>
          </a:solidFill>
          <a:ln w="12700">
            <a:solidFill>
              <a:srgbClr val="1D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4014216"/>
            <a:ext cx="411480" cy="41148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4041648" y="3895344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3"/>
                </a:solidFill>
              </a:rPr>
              <a:t>Clickable for depth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4041648" y="4187952"/>
            <a:ext cx="4553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</a:rPr>
              <a:t>Every KPI card opens a detailed modal. Summary by default, drill-down on demand.</a:t>
            </a:r>
            <a:endParaRPr lang="en-US" sz="105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275F4ED-6063-EEAF-A723-2CDBC02B13F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014"/>
          <a:stretch>
            <a:fillRect/>
          </a:stretch>
        </p:blipFill>
        <p:spPr>
          <a:xfrm>
            <a:off x="575193" y="1168401"/>
            <a:ext cx="1772656" cy="3531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533"/>
          </a:solidFill>
          <a:ln w="12700">
            <a:solidFill>
              <a:srgbClr val="1E25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Model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4556A"/>
                </a:solidFill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36E72"/>
                </a:solidFill>
              </a:rPr>
              <a:t>How operations are structured behind the interface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39312" y="1315212"/>
            <a:ext cx="2011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533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639312" y="1315212"/>
            <a:ext cx="2011680" cy="320040"/>
          </a:xfrm>
          <a:prstGeom prst="rect">
            <a:avLst/>
          </a:prstGeom>
          <a:solidFill>
            <a:srgbClr val="1E2533"/>
          </a:solidFill>
          <a:ln w="12700">
            <a:solidFill>
              <a:srgbClr val="1E25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39312" y="13152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0" y="168097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</a:rPr>
              <a:t>room_id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30752" y="1918716"/>
            <a:ext cx="1828800" cy="0"/>
          </a:xfrm>
          <a:prstGeom prst="line">
            <a:avLst/>
          </a:prstGeom>
          <a:noFill/>
          <a:ln w="635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49040" y="193700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</a:rPr>
              <a:t>floor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30752" y="2174748"/>
            <a:ext cx="1828800" cy="0"/>
          </a:xfrm>
          <a:prstGeom prst="line">
            <a:avLst/>
          </a:prstGeom>
          <a:noFill/>
          <a:ln w="635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49040" y="2193036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</a:rPr>
              <a:t>type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30752" y="2430780"/>
            <a:ext cx="1828800" cy="0"/>
          </a:xfrm>
          <a:prstGeom prst="line">
            <a:avLst/>
          </a:prstGeom>
          <a:noFill/>
          <a:ln w="635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49040" y="2449068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</a:rPr>
              <a:t>status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3017520"/>
            <a:ext cx="2011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9E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0" y="3017520"/>
            <a:ext cx="2011680" cy="320040"/>
          </a:xfrm>
          <a:prstGeom prst="rect">
            <a:avLst/>
          </a:prstGeom>
          <a:solidFill>
            <a:srgbClr val="3B9EEB"/>
          </a:solidFill>
          <a:ln w="12700">
            <a:solidFill>
              <a:srgbClr val="3B9E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3017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Guest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338328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</a:rPr>
              <a:t>guest_id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05840" y="3621024"/>
            <a:ext cx="1828800" cy="0"/>
          </a:xfrm>
          <a:prstGeom prst="line">
            <a:avLst/>
          </a:prstGeom>
          <a:noFill/>
          <a:ln w="635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24128" y="363931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</a:rPr>
              <a:t>name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05840" y="3877056"/>
            <a:ext cx="1828800" cy="0"/>
          </a:xfrm>
          <a:prstGeom prst="line">
            <a:avLst/>
          </a:prstGeom>
          <a:noFill/>
          <a:ln w="635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24128" y="389534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</a:rPr>
              <a:t>check_in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05840" y="4133088"/>
            <a:ext cx="1828800" cy="0"/>
          </a:xfrm>
          <a:prstGeom prst="line">
            <a:avLst/>
          </a:prstGeom>
          <a:noFill/>
          <a:ln w="635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24128" y="4151376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</a:rPr>
              <a:t>check_out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39312" y="3022346"/>
            <a:ext cx="2011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BF73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39312" y="3022346"/>
            <a:ext cx="2011680" cy="320040"/>
          </a:xfrm>
          <a:prstGeom prst="rect">
            <a:avLst/>
          </a:prstGeom>
          <a:solidFill>
            <a:srgbClr val="1DBF73"/>
          </a:solidFill>
          <a:ln w="12700">
            <a:solidFill>
              <a:srgbClr val="1D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39312" y="302234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Tasks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49040" y="3388106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</a:rPr>
              <a:t>task_id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30752" y="3625850"/>
            <a:ext cx="1828800" cy="0"/>
          </a:xfrm>
          <a:prstGeom prst="line">
            <a:avLst/>
          </a:prstGeom>
          <a:noFill/>
          <a:ln w="635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749040" y="3644138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</a:rPr>
              <a:t>type (HK/Service)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30752" y="3881882"/>
            <a:ext cx="1828800" cy="0"/>
          </a:xfrm>
          <a:prstGeom prst="line">
            <a:avLst/>
          </a:prstGeom>
          <a:noFill/>
          <a:ln w="635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749040" y="390017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</a:rPr>
              <a:t>status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730752" y="4137914"/>
            <a:ext cx="1828800" cy="0"/>
          </a:xfrm>
          <a:prstGeom prst="line">
            <a:avLst/>
          </a:prstGeom>
          <a:noFill/>
          <a:ln w="635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749040" y="415620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</a:rPr>
              <a:t>sla_time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0" y="3017520"/>
            <a:ext cx="2011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00800" y="3017520"/>
            <a:ext cx="201168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0800" y="3017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Staff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10528" y="338328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</a:rPr>
              <a:t>staff_id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92240" y="3621024"/>
            <a:ext cx="1828800" cy="0"/>
          </a:xfrm>
          <a:prstGeom prst="line">
            <a:avLst/>
          </a:prstGeom>
          <a:noFill/>
          <a:ln w="635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510528" y="3639312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</a:rPr>
              <a:t>name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92240" y="3877056"/>
            <a:ext cx="1828800" cy="0"/>
          </a:xfrm>
          <a:prstGeom prst="line">
            <a:avLst/>
          </a:prstGeom>
          <a:noFill/>
          <a:ln w="635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510528" y="389534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</a:rPr>
              <a:t>role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92240" y="4133088"/>
            <a:ext cx="1828800" cy="0"/>
          </a:xfrm>
          <a:prstGeom prst="line">
            <a:avLst/>
          </a:prstGeom>
          <a:noFill/>
          <a:ln w="635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510528" y="4151376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</a:rPr>
              <a:t>task_count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45152" y="2976626"/>
            <a:ext cx="0" cy="45720"/>
          </a:xfrm>
          <a:prstGeom prst="line">
            <a:avLst/>
          </a:prstGeom>
          <a:noFill/>
          <a:ln w="12700">
            <a:solidFill>
              <a:srgbClr val="DFE6E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944368" y="185013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36E72"/>
                </a:solidFill>
              </a:rPr>
              <a:t>stays in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645152" y="2976626"/>
            <a:ext cx="0" cy="45720"/>
          </a:xfrm>
          <a:prstGeom prst="line">
            <a:avLst/>
          </a:prstGeom>
          <a:noFill/>
          <a:ln w="12700">
            <a:solidFill>
              <a:srgbClr val="DFE6E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434840" y="275107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36E72"/>
                </a:solidFill>
              </a:rPr>
              <a:t>has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663440" y="2971800"/>
            <a:ext cx="2743200" cy="45720"/>
          </a:xfrm>
          <a:prstGeom prst="line">
            <a:avLst/>
          </a:prstGeom>
          <a:noFill/>
          <a:ln w="12700">
            <a:solidFill>
              <a:srgbClr val="DFE6E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650992" y="355066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36E72"/>
                </a:solidFill>
              </a:rPr>
              <a:t>assigned to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669280" y="3749040"/>
            <a:ext cx="731520" cy="0"/>
          </a:xfrm>
          <a:prstGeom prst="line">
            <a:avLst/>
          </a:prstGeom>
          <a:noFill/>
          <a:ln w="12700">
            <a:solidFill>
              <a:srgbClr val="DFE6E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2A3B0712-E83A-ED83-29BB-B165A6417A52}"/>
              </a:ext>
            </a:extLst>
          </p:cNvPr>
          <p:cNvCxnSpPr>
            <a:stCxn id="16" idx="0"/>
            <a:endCxn id="6" idx="1"/>
          </p:cNvCxnSpPr>
          <p:nvPr/>
        </p:nvCxnSpPr>
        <p:spPr>
          <a:xfrm rot="5400000" flipH="1" flipV="1">
            <a:off x="2294382" y="1672590"/>
            <a:ext cx="970788" cy="171907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1791BAB-1CBD-062B-743F-E33EFD2F0D3F}"/>
              </a:ext>
            </a:extLst>
          </p:cNvPr>
          <p:cNvCxnSpPr>
            <a:stCxn id="6" idx="2"/>
            <a:endCxn id="27" idx="0"/>
          </p:cNvCxnSpPr>
          <p:nvPr/>
        </p:nvCxnSpPr>
        <p:spPr>
          <a:xfrm>
            <a:off x="4645152" y="2778252"/>
            <a:ext cx="0" cy="244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871A440-1D8C-15F6-21D4-272F17D1726D}"/>
              </a:ext>
            </a:extLst>
          </p:cNvPr>
          <p:cNvCxnSpPr>
            <a:stCxn id="52" idx="0"/>
            <a:endCxn id="36" idx="1"/>
          </p:cNvCxnSpPr>
          <p:nvPr/>
        </p:nvCxnSpPr>
        <p:spPr>
          <a:xfrm>
            <a:off x="5669280" y="3749040"/>
            <a:ext cx="7315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3A50"/>
          </a:solidFill>
          <a:ln w="12700">
            <a:solidFill>
              <a:srgbClr val="2E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Dashboard Impact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4556A"/>
                </a:solidFill>
              </a:rPr>
              <a:t>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3749040"/>
          </a:xfrm>
          <a:prstGeom prst="rect">
            <a:avLst/>
          </a:prstGeom>
          <a:solidFill>
            <a:srgbClr val="2E3A50"/>
          </a:solidFill>
          <a:ln w="12700">
            <a:solidFill>
              <a:srgbClr val="3A4A6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14800" cy="45720"/>
          </a:xfrm>
          <a:prstGeom prst="rect">
            <a:avLst/>
          </a:prstGeom>
          <a:solidFill>
            <a:srgbClr val="1DBF73"/>
          </a:solidFill>
          <a:ln w="12700">
            <a:solidFill>
              <a:srgbClr val="1D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618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2618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Operational Excellence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737360"/>
            <a:ext cx="3749040" cy="0"/>
          </a:xfrm>
          <a:prstGeom prst="line">
            <a:avLst/>
          </a:prstGeom>
          <a:noFill/>
          <a:ln w="12700">
            <a:solidFill>
              <a:srgbClr val="3A4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1847088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ABBCC"/>
                </a:solidFill>
              </a:rPr>
              <a:t>Reduced SLA breaches through proactive alerts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ABBCC"/>
                </a:solidFill>
              </a:rPr>
              <a:t>Better workload distribution across staff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ABBCC"/>
                </a:solidFill>
              </a:rPr>
              <a:t>Improved staff utilisation and accountability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ABBCC"/>
                </a:solidFill>
              </a:rPr>
              <a:t>Faster decision-making with a single-screen view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846320" y="1143000"/>
            <a:ext cx="4114800" cy="3749040"/>
          </a:xfrm>
          <a:prstGeom prst="rect">
            <a:avLst/>
          </a:prstGeom>
          <a:solidFill>
            <a:srgbClr val="2E3A50"/>
          </a:solidFill>
          <a:ln w="12700">
            <a:solidFill>
              <a:srgbClr val="3A4A6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46320" y="1143000"/>
            <a:ext cx="4114800" cy="45720"/>
          </a:xfrm>
          <a:prstGeom prst="rect">
            <a:avLst/>
          </a:prstGeom>
          <a:solidFill>
            <a:srgbClr val="3B9EEB"/>
          </a:solidFill>
          <a:ln w="12700">
            <a:solidFill>
              <a:srgbClr val="3B9E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6187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04688" y="12618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Guest Experience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029200" y="1737360"/>
            <a:ext cx="3749040" cy="0"/>
          </a:xfrm>
          <a:prstGeom prst="line">
            <a:avLst/>
          </a:prstGeom>
          <a:noFill/>
          <a:ln w="12700">
            <a:solidFill>
              <a:srgbClr val="3A4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029200" y="1847088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ABBCC"/>
                </a:solidFill>
              </a:rPr>
              <a:t>Faster service response with real-time assignment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ABBCC"/>
                </a:solidFill>
              </a:rPr>
              <a:t>Fewer delays through live room status visibility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ABBCC"/>
                </a:solidFill>
              </a:rPr>
              <a:t>Smoother stay from check-in to check-out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533"/>
          </a:solidFill>
          <a:ln w="12700">
            <a:solidFill>
              <a:srgbClr val="1E25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Housekeeping App — Home Screen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4556A"/>
                </a:solidFill>
              </a:rPr>
              <a:t>10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 flipV="1">
            <a:off x="5562600" y="1821186"/>
            <a:ext cx="670560" cy="0"/>
          </a:xfrm>
          <a:prstGeom prst="line">
            <a:avLst/>
          </a:prstGeom>
          <a:noFill/>
          <a:ln w="10160">
            <a:solidFill>
              <a:srgbClr val="1DBF7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630680" y="1371600"/>
            <a:ext cx="134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533"/>
                </a:solidFill>
              </a:rPr>
              <a:t>Name &amp; sign-in toggle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562600" y="2912746"/>
            <a:ext cx="670560" cy="0"/>
          </a:xfrm>
          <a:prstGeom prst="line">
            <a:avLst/>
          </a:prstGeom>
          <a:noFill/>
          <a:ln w="10160">
            <a:solidFill>
              <a:srgbClr val="1DBF7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347460" y="166116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533"/>
                </a:solidFill>
              </a:rPr>
              <a:t>Pending / Completed tabs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471160" y="2063115"/>
            <a:ext cx="762000" cy="0"/>
          </a:xfrm>
          <a:prstGeom prst="line">
            <a:avLst/>
          </a:prstGeom>
          <a:noFill/>
          <a:ln w="10160">
            <a:solidFill>
              <a:srgbClr val="1DBF7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347460" y="2773683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533"/>
                </a:solidFill>
              </a:rPr>
              <a:t>2×5 square card grid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533"/>
                </a:solidFill>
              </a:rPr>
              <a:t>(sorted by SLA urgency)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 flipV="1">
            <a:off x="2880359" y="1523048"/>
            <a:ext cx="767715" cy="0"/>
          </a:xfrm>
          <a:prstGeom prst="line">
            <a:avLst/>
          </a:prstGeom>
          <a:noFill/>
          <a:ln w="10160">
            <a:solidFill>
              <a:srgbClr val="1DBF7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347460" y="191262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533"/>
                </a:solidFill>
              </a:rPr>
              <a:t>Red pulse = SLA breach</a:t>
            </a:r>
            <a:endParaRPr lang="en-US" sz="105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6C6874D4-51AD-D5EC-1B77-1AC4F56A6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4786" y="1035051"/>
            <a:ext cx="2154428" cy="40220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3A50"/>
          </a:solidFill>
          <a:ln w="12700">
            <a:solidFill>
              <a:srgbClr val="2E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App in Action — Task Execution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4556A"/>
                </a:solidFill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51560" y="2468880"/>
            <a:ext cx="7040880" cy="0"/>
          </a:xfrm>
          <a:prstGeom prst="line">
            <a:avLst/>
          </a:prstGeom>
          <a:noFill/>
          <a:ln w="19050">
            <a:solidFill>
              <a:srgbClr val="3A4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148840"/>
            <a:ext cx="640080" cy="640080"/>
          </a:xfrm>
          <a:prstGeom prst="ellipse">
            <a:avLst/>
          </a:prstGeom>
          <a:solidFill>
            <a:srgbClr val="3B9EEB"/>
          </a:solidFill>
          <a:ln w="12700">
            <a:solidFill>
              <a:srgbClr val="3B9E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1965960" cy="1920240"/>
          </a:xfrm>
          <a:prstGeom prst="rect">
            <a:avLst/>
          </a:prstGeom>
          <a:solidFill>
            <a:srgbClr val="2E3A50"/>
          </a:solidFill>
          <a:ln w="12700">
            <a:solidFill>
              <a:srgbClr val="3A4A6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1965960" cy="45720"/>
          </a:xfrm>
          <a:prstGeom prst="rect">
            <a:avLst/>
          </a:prstGeom>
          <a:solidFill>
            <a:srgbClr val="3B9EEB"/>
          </a:solidFill>
          <a:ln w="12700">
            <a:solidFill>
              <a:srgbClr val="3B9E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9992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4930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Select Task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2219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BB"/>
                </a:solidFill>
              </a:rPr>
              <a:t>Staff taps urgent room card (red pulse). Opens task detail with SLA timer.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63240" y="2148840"/>
            <a:ext cx="640080" cy="640080"/>
          </a:xfrm>
          <a:prstGeom prst="ellipse">
            <a:avLst/>
          </a:prstGeom>
          <a:solidFill>
            <a:srgbClr val="1DBF73"/>
          </a:solidFill>
          <a:ln w="12700">
            <a:solidFill>
              <a:srgbClr val="1D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632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514600" y="2926080"/>
            <a:ext cx="1965960" cy="1920240"/>
          </a:xfrm>
          <a:prstGeom prst="rect">
            <a:avLst/>
          </a:prstGeom>
          <a:solidFill>
            <a:srgbClr val="2E3A50"/>
          </a:solidFill>
          <a:ln w="12700">
            <a:solidFill>
              <a:srgbClr val="3A4A6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14600" y="2926080"/>
            <a:ext cx="1965960" cy="45720"/>
          </a:xfrm>
          <a:prstGeom prst="rect">
            <a:avLst/>
          </a:prstGeom>
          <a:solidFill>
            <a:srgbClr val="1DBF73"/>
          </a:solidFill>
          <a:ln w="12700">
            <a:solidFill>
              <a:srgbClr val="1D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14600" y="29992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606040" y="34930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Verify Room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06040" y="382219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BB"/>
                </a:solidFill>
              </a:rPr>
              <a:t>Camera opens. Staff captures door plate. Timestamp auto-stamped.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12080" y="2148840"/>
            <a:ext cx="640080" cy="640080"/>
          </a:xfrm>
          <a:prstGeom prst="ellipse">
            <a:avLst/>
          </a:prstGeom>
          <a:solidFill>
            <a:srgbClr val="F0CE70"/>
          </a:solidFill>
          <a:ln w="12700">
            <a:solidFill>
              <a:srgbClr val="F0C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120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1965960" cy="1920240"/>
          </a:xfrm>
          <a:prstGeom prst="rect">
            <a:avLst/>
          </a:prstGeom>
          <a:solidFill>
            <a:srgbClr val="2E3A50"/>
          </a:solidFill>
          <a:ln w="12700">
            <a:solidFill>
              <a:srgbClr val="3A4A6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2926080"/>
            <a:ext cx="1965960" cy="45720"/>
          </a:xfrm>
          <a:prstGeom prst="rect">
            <a:avLst/>
          </a:prstGeom>
          <a:solidFill>
            <a:srgbClr val="F0CE70"/>
          </a:solidFill>
          <a:ln w="12700">
            <a:solidFill>
              <a:srgbClr val="F0C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29992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754880" y="34930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Pre-condition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82219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BB"/>
                </a:solidFill>
              </a:rPr>
              <a:t>Before photos captured across 3 sections: Room, Bathroom, Amenities.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60920" y="2148840"/>
            <a:ext cx="640080" cy="640080"/>
          </a:xfrm>
          <a:prstGeom prst="ellipse">
            <a:avLst/>
          </a:prstGeom>
          <a:solidFill>
            <a:srgbClr val="1DBF73"/>
          </a:solidFill>
          <a:ln w="12700">
            <a:solidFill>
              <a:srgbClr val="1D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609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12280" y="2926080"/>
            <a:ext cx="1965960" cy="1920240"/>
          </a:xfrm>
          <a:prstGeom prst="rect">
            <a:avLst/>
          </a:prstGeom>
          <a:solidFill>
            <a:srgbClr val="2E3A50"/>
          </a:solidFill>
          <a:ln w="12700">
            <a:solidFill>
              <a:srgbClr val="3A4A6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12280" y="2926080"/>
            <a:ext cx="1965960" cy="45720"/>
          </a:xfrm>
          <a:prstGeom prst="rect">
            <a:avLst/>
          </a:prstGeom>
          <a:solidFill>
            <a:srgbClr val="1DBF73"/>
          </a:solidFill>
          <a:ln w="12700">
            <a:solidFill>
              <a:srgbClr val="1D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12280" y="29992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903720" y="34930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Complete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03720" y="382219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BB"/>
                </a:solidFill>
              </a:rPr>
              <a:t>After photos captured. Staff confirms. Task marked done. Card moves to Completed.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359152" y="3858768"/>
            <a:ext cx="128016" cy="0"/>
          </a:xfrm>
          <a:prstGeom prst="line">
            <a:avLst/>
          </a:prstGeom>
          <a:noFill/>
          <a:ln w="19050">
            <a:solidFill>
              <a:srgbClr val="1D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313432" y="3749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BF73"/>
                </a:solidFill>
              </a:rPr>
              <a:t>→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07992" y="3858768"/>
            <a:ext cx="128016" cy="0"/>
          </a:xfrm>
          <a:prstGeom prst="line">
            <a:avLst/>
          </a:prstGeom>
          <a:noFill/>
          <a:ln w="19050">
            <a:solidFill>
              <a:srgbClr val="1D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462272" y="3749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BF73"/>
                </a:solidFill>
              </a:rPr>
              <a:t>→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656832" y="3858768"/>
            <a:ext cx="128016" cy="0"/>
          </a:xfrm>
          <a:prstGeom prst="line">
            <a:avLst/>
          </a:prstGeom>
          <a:noFill/>
          <a:ln w="19050">
            <a:solidFill>
              <a:srgbClr val="1D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611112" y="3749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BF73"/>
                </a:solidFill>
              </a:rPr>
              <a:t>→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1051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77AA"/>
                </a:solidFill>
              </a:rPr>
              <a:t>Service task example: Room 302 · Food Delivery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6677"/>
                </a:solidFill>
              </a:rPr>
              <a:t>Repair tasks (AC, TV, Plumbing) include an additional After Documentation step before completion.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3A50"/>
          </a:solidFill>
          <a:ln w="12700">
            <a:solidFill>
              <a:srgbClr val="2E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Mobile App Impact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4556A"/>
                </a:solidFill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3749040"/>
          </a:xfrm>
          <a:prstGeom prst="rect">
            <a:avLst/>
          </a:prstGeom>
          <a:solidFill>
            <a:srgbClr val="2E3A50"/>
          </a:solidFill>
          <a:ln w="12700">
            <a:solidFill>
              <a:srgbClr val="3A4A6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14800" cy="45720"/>
          </a:xfrm>
          <a:prstGeom prst="rect">
            <a:avLst/>
          </a:prstGeom>
          <a:solidFill>
            <a:srgbClr val="1DBF73"/>
          </a:solidFill>
          <a:ln w="12700">
            <a:solidFill>
              <a:srgbClr val="1D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618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2618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Operational Excellence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737360"/>
            <a:ext cx="3749040" cy="0"/>
          </a:xfrm>
          <a:prstGeom prst="line">
            <a:avLst/>
          </a:prstGeom>
          <a:noFill/>
          <a:ln w="12700">
            <a:solidFill>
              <a:srgbClr val="3A4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1847088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ABBCC"/>
                </a:solidFill>
              </a:rPr>
              <a:t>Quick task access — no navigation overhead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ABBCC"/>
                </a:solidFill>
              </a:rPr>
              <a:t>Reduced errors through structured documentation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ABBCC"/>
                </a:solidFill>
              </a:rPr>
              <a:t>Real-time task status visible to front office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846320" y="1143000"/>
            <a:ext cx="4114800" cy="3749040"/>
          </a:xfrm>
          <a:prstGeom prst="rect">
            <a:avLst/>
          </a:prstGeom>
          <a:solidFill>
            <a:srgbClr val="2E3A50"/>
          </a:solidFill>
          <a:ln w="12700">
            <a:solidFill>
              <a:srgbClr val="3A4A6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46320" y="1143000"/>
            <a:ext cx="4114800" cy="45720"/>
          </a:xfrm>
          <a:prstGeom prst="rect">
            <a:avLst/>
          </a:prstGeom>
          <a:solidFill>
            <a:srgbClr val="3B9EEB"/>
          </a:solidFill>
          <a:ln w="12700">
            <a:solidFill>
              <a:srgbClr val="3B9E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6187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04688" y="12618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Guest Experience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029200" y="1737360"/>
            <a:ext cx="3749040" cy="0"/>
          </a:xfrm>
          <a:prstGeom prst="line">
            <a:avLst/>
          </a:prstGeom>
          <a:noFill/>
          <a:ln w="12700">
            <a:solidFill>
              <a:srgbClr val="3A4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029200" y="1847088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ABBCC"/>
                </a:solidFill>
              </a:rPr>
              <a:t>Proof of work ensures quality at every room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ABBCC"/>
                </a:solidFill>
              </a:rPr>
              <a:t>Consistent experience via streamlined task flow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ABBCC"/>
                </a:solidFill>
              </a:rPr>
              <a:t>Fewer service gaps through photo documentation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DBF73"/>
          </a:solidFill>
          <a:ln w="12700">
            <a:solidFill>
              <a:srgbClr val="1DB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2057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"From reactive operations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48640" y="2468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B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real-time control"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48640" y="3063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99BB"/>
                </a:solidFill>
              </a:rPr>
              <a:t>Thank You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726</Words>
  <Application>Microsoft Office PowerPoint</Application>
  <PresentationFormat>On-screen Show (16:9)</PresentationFormat>
  <Paragraphs>151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GuestWave — Hotel Operations Suite</dc:title>
  <dc:subject>PptxGenJS Presentation</dc:subject>
  <dc:creator>PptxGenJS</dc:creator>
  <cp:lastModifiedBy>Mitra Chodankar</cp:lastModifiedBy>
  <cp:revision>2</cp:revision>
  <dcterms:created xsi:type="dcterms:W3CDTF">2026-05-02T18:50:05Z</dcterms:created>
  <dcterms:modified xsi:type="dcterms:W3CDTF">2026-05-02T20:16:55Z</dcterms:modified>
</cp:coreProperties>
</file>